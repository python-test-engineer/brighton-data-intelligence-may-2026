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91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9665D1-7C8B-411C-9721-872C928ADBBC}"/>
              </a:ext>
            </a:extLst>
          </p:cNvPr>
          <p:cNvSpPr txBox="1"/>
          <p:nvPr/>
        </p:nvSpPr>
        <p:spPr>
          <a:xfrm>
            <a:off x="762000" y="1016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A1A"/>
                </a:solidFill>
                <a:latin typeface="Georgia"/>
              </a:rPr>
              <a:t>The Use of AI Agents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9A56-038B-46DE-8D60-45DE7F881057}"/>
              </a:ext>
            </a:extLst>
          </p:cNvPr>
          <p:cNvSpPr txBox="1"/>
          <p:nvPr/>
        </p:nvSpPr>
        <p:spPr>
          <a:xfrm>
            <a:off x="762000" y="2286000"/>
            <a:ext cx="1066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50"/>
              </a:spcAft>
              <a:buFont typeface="Georgia"/>
              <a:buChar char="—"/>
            </a:pPr>
            <a:r>
              <a:rPr lang="en-US" sz="2000" b="1" dirty="0">
                <a:solidFill>
                  <a:srgbClr val="1A1A1A"/>
                </a:solidFill>
                <a:latin typeface="Georgia"/>
              </a:rPr>
              <a:t>Automation of Complex Tasks</a:t>
            </a:r>
          </a:p>
          <a:p>
            <a:pPr marL="342900" indent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rgbClr val="3D3D3D"/>
                </a:solidFill>
                <a:latin typeface="Calibri"/>
              </a:rPr>
              <a:t>AI agents autonomously execute multi-step workflows — from research to data analysis — freeing humans to focus on higher-value work.</a:t>
            </a:r>
          </a:p>
          <a:p>
            <a:pPr marL="342900" indent="-342900">
              <a:spcBef>
                <a:spcPts val="600"/>
              </a:spcBef>
              <a:spcAft>
                <a:spcPts val="150"/>
              </a:spcAft>
              <a:buFont typeface="Georgia"/>
              <a:buChar char="—"/>
            </a:pPr>
            <a:r>
              <a:rPr lang="en-US" sz="2000" b="1" dirty="0">
                <a:solidFill>
                  <a:srgbClr val="1A1A1A"/>
                </a:solidFill>
                <a:latin typeface="Georgia"/>
              </a:rPr>
              <a:t>Real-Time Decision Making</a:t>
            </a:r>
          </a:p>
          <a:p>
            <a:pPr marL="342900" indent="0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rgbClr val="3D3D3D"/>
                </a:solidFill>
                <a:latin typeface="Calibri"/>
              </a:rPr>
              <a:t>By continuously processing live data, AI agents make adaptive decisions without human intervention, enabling faster responses in dynamic environments.</a:t>
            </a:r>
          </a:p>
          <a:p>
            <a:pPr marL="342900" indent="-342900">
              <a:spcBef>
                <a:spcPts val="600"/>
              </a:spcBef>
              <a:spcAft>
                <a:spcPts val="150"/>
              </a:spcAft>
              <a:buFont typeface="Georgia"/>
              <a:buChar char="—"/>
            </a:pPr>
            <a:r>
              <a:rPr lang="en-US" sz="2000" b="1" dirty="0">
                <a:solidFill>
                  <a:srgbClr val="1A1A1A"/>
                </a:solidFill>
                <a:latin typeface="Georgia"/>
              </a:rPr>
              <a:t>Collaborative Multi-Agent Systems</a:t>
            </a:r>
          </a:p>
          <a:p>
            <a:pPr marL="342900" indent="0">
              <a:spcBef>
                <a:spcPts val="1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3D3D3D"/>
                </a:solidFill>
                <a:latin typeface="Calibri"/>
              </a:rPr>
              <a:t>Multiple AI agents work in parallel, delegating subtasks to specialized agents and coordinating outputs to solve problems beyond the scope of a single model.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CB587-EA6D-4329-962B-137E463FE1D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B8E99-A5E8-4279-9A3F-C30B9FCED068}"/>
              </a:ext>
            </a:extLst>
          </p:cNvPr>
          <p:cNvSpPr/>
          <p:nvPr/>
        </p:nvSpPr>
        <p:spPr>
          <a:xfrm>
            <a:off x="762000" y="2006600"/>
            <a:ext cx="2540000" cy="25400"/>
          </a:xfrm>
          <a:prstGeom prst="rect">
            <a:avLst/>
          </a:prstGeom>
          <a:solidFill>
            <a:srgbClr val="1A1A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49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763c1d-6c27-46be-9e77-7e77bf1135e8}">
  <we:reference id="WA200010001" version="1.0.0.1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84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Craig West</cp:lastModifiedBy>
  <cp:revision>5</cp:revision>
  <dcterms:created xsi:type="dcterms:W3CDTF">2018-06-07T21:39:02Z</dcterms:created>
  <dcterms:modified xsi:type="dcterms:W3CDTF">2026-03-20T07:58:44Z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